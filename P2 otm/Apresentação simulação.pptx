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84" r:id="rId6"/>
    <p:sldId id="285" r:id="rId7"/>
    <p:sldId id="260" r:id="rId8"/>
    <p:sldId id="280" r:id="rId9"/>
    <p:sldId id="28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33FD2-F20B-4D93-AAD9-988E62F38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CDE336-2822-41A4-B646-EA8598F96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1866D7-6A5B-498A-B56B-2BC2F46C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254D-9867-459F-BF26-530E1BBC426C}" type="datetimeFigureOut">
              <a:rPr lang="pt-BR" smtClean="0"/>
              <a:t>30/11/2021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EC4B4C-D093-4CD2-BD27-1D082618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3C53D4-0846-4A0B-9423-0757A8F2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0AD2A-A3DB-4427-ADEB-2908776496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33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FDA8B-BF6B-40C1-9DF4-49FA0C5B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750F3-B44E-4F57-ADE7-EE9582F7A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D357E-0261-4C4C-A7A2-151260F9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254D-9867-459F-BF26-530E1BBC426C}" type="datetimeFigureOut">
              <a:rPr lang="pt-BR" smtClean="0"/>
              <a:t>30/11/2021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2F3B0C-6E94-4A3B-A506-6FF7FDB6B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63B4C7-35D0-4D39-870A-908C7F87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0AD2A-A3DB-4427-ADEB-2908776496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85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158B2-D74A-454A-81A6-1060E43DB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ACF529-2ECC-4F38-9BD5-F0CD23FF8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87EDDA-4512-4507-859A-F6D17B5EE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254D-9867-459F-BF26-530E1BBC426C}" type="datetimeFigureOut">
              <a:rPr lang="pt-BR" smtClean="0"/>
              <a:t>30/11/2021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D419C2-80E8-438F-8A69-7A6A6CA24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D56AE7-A1BD-4A38-99D5-B6C9CD68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0AD2A-A3DB-4427-ADEB-2908776496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933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4EE4F-6729-4A19-9242-505ED7AC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8EC08C-E01D-4FD7-8B3F-EF88DBDC1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1B79C7-FD60-4034-8E6E-0E18DA925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5B10A6-1111-449A-BF1F-6BBE79B0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254D-9867-459F-BF26-530E1BBC426C}" type="datetimeFigureOut">
              <a:rPr lang="pt-BR" smtClean="0"/>
              <a:t>30/11/2021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3E33FD-DC32-4C08-9ED8-C5A1E9E7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8B1511-F988-4FB2-A1D6-B0A1B4D0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0AD2A-A3DB-4427-ADEB-2908776496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92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46C41-DB80-4359-B60A-87AC7BF7D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CA6955-F38B-457B-B8B9-09C7E290C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91D8F5-6EAA-4B78-9A57-254929598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C93C40-5BB5-4620-A0CC-6E0B1B48E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280EFD8-08F3-462C-B7BE-934B169B22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02D45D-C649-423D-AAD2-A6EDD45B8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254D-9867-459F-BF26-530E1BBC426C}" type="datetimeFigureOut">
              <a:rPr lang="pt-BR" smtClean="0"/>
              <a:t>30/11/2021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F50489-160D-43EA-869F-38C741A2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2B911BE-CEEF-43D7-869C-A147B0C5C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0AD2A-A3DB-4427-ADEB-2908776496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5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318DF-0F14-4A09-9101-6B8C67B5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A8C7B1-68BF-4C6D-A614-72FE943A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254D-9867-459F-BF26-530E1BBC426C}" type="datetimeFigureOut">
              <a:rPr lang="pt-BR" smtClean="0"/>
              <a:t>30/11/2021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868561-B82F-4948-A629-17CFD6C2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3081243-B042-492E-8030-B3411CC9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0AD2A-A3DB-4427-ADEB-2908776496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955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633D51-C6BE-4977-9AFC-E14E03A17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254D-9867-459F-BF26-530E1BBC426C}" type="datetimeFigureOut">
              <a:rPr lang="pt-BR" smtClean="0"/>
              <a:t>30/11/2021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43B02F6-43D8-4319-AA2D-02503112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66B677-5F87-4797-A718-EDC5C42D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0AD2A-A3DB-4427-ADEB-2908776496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7453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81472-8B80-4482-B096-63DEC09A9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8D9AA8-969C-46C6-B474-6A6547100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5BD7CA-D970-45F4-A2AB-A42A29590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75811C-746B-45F8-85BD-F262B4CA3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254D-9867-459F-BF26-530E1BBC426C}" type="datetimeFigureOut">
              <a:rPr lang="pt-BR" smtClean="0"/>
              <a:t>30/11/2021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B30B18-8935-4D5B-8EB4-F184A0A7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64A3D6-945B-49F6-841E-A5181C2C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0AD2A-A3DB-4427-ADEB-2908776496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960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DEE1E-F4D8-4AFA-8EE0-E1447E4D9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73E6332-9FD5-4C0D-A3DB-9636643FFF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0F8C13-05E4-465B-A4AF-397DC08F3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864285-21CE-4938-BF03-AA7A51EE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254D-9867-459F-BF26-530E1BBC426C}" type="datetimeFigureOut">
              <a:rPr lang="pt-BR" smtClean="0"/>
              <a:t>30/11/2021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8E691F-0CC5-4CD0-A888-B42328CF4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0BEA8A-8267-40AB-ADCB-173E72B1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0AD2A-A3DB-4427-ADEB-2908776496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498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FEC64-FC77-4FFA-99B1-1D70618F3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75A4CA9-47BE-42D9-84B2-F5D06CBDC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C70B18-DA14-407E-96BB-56440F648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254D-9867-459F-BF26-530E1BBC426C}" type="datetimeFigureOut">
              <a:rPr lang="pt-BR" smtClean="0"/>
              <a:t>30/11/2021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BF75BC-27C7-490D-B3C4-0AFE3D011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AB58E1-267C-4581-8C64-748A2789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0AD2A-A3DB-4427-ADEB-2908776496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825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7ED2D0-55DF-48F1-AE3E-A07A29108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D7BA8E-08AA-43CA-94EE-A548E2B0D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46860C-D86B-4DAC-8150-14462C0E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254D-9867-459F-BF26-530E1BBC426C}" type="datetimeFigureOut">
              <a:rPr lang="pt-BR" smtClean="0"/>
              <a:t>30/11/2021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E44E32-FC4C-415E-BF37-A0276FE4B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4B26B1-47EF-40D7-9B9D-A2557EFD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0AD2A-A3DB-4427-ADEB-2908776496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34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06C7ADE-F3EC-494D-9080-754E668C2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C28F3A-D12C-42C0-9856-6CCE6F332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5424E9-47B4-4170-B5B2-D686E77D8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4254D-9867-459F-BF26-530E1BBC426C}" type="datetimeFigureOut">
              <a:rPr lang="pt-BR" smtClean="0"/>
              <a:t>30/11/2021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E845F4-BF1B-419E-A02F-C7D4E0B4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244021-EEC1-4584-8C01-FC24F95D8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0AD2A-A3DB-4427-ADEB-2908776496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03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7FA1D-00DB-4938-917A-EC81BD799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1006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Kinetic modeling of batch fermentation for mixed-sugar to ethanol production</a:t>
            </a:r>
            <a:endParaRPr lang="pt-BR" sz="9600" dirty="0">
              <a:latin typeface="+mn-lt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B0F7FD-9FB4-43C3-A22A-13D117D8D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1232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David Zanon</a:t>
            </a:r>
          </a:p>
          <a:p>
            <a:endParaRPr lang="pt-BR" dirty="0"/>
          </a:p>
          <a:p>
            <a:r>
              <a:rPr lang="pt-BR" dirty="0"/>
              <a:t>ENG1818: SIMUL/OTIMIZ DE PROC QUIMICOS</a:t>
            </a:r>
          </a:p>
          <a:p>
            <a:r>
              <a:rPr lang="pt-BR" dirty="0"/>
              <a:t>Professora: Amanda Lemette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853B9A-2B6A-4421-944D-55D400FF3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849" y="65576"/>
            <a:ext cx="602841" cy="105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284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B1493935-40B9-4FF4-89E2-B978AD658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146" y="3320218"/>
            <a:ext cx="8087854" cy="28293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32E9022-0908-42FC-86F7-952E540BE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864634-1A22-4D1F-BC2B-B3CEA3EAB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26" y="1343818"/>
            <a:ext cx="4415332" cy="478103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endParaRPr lang="pt-BR" sz="2000" dirty="0"/>
          </a:p>
          <a:p>
            <a:r>
              <a:rPr lang="en-US" sz="2000" b="1" dirty="0"/>
              <a:t>Biochemical systems theory (BST</a:t>
            </a:r>
            <a:r>
              <a:rPr lang="pt-BR" sz="2000" b="1" dirty="0"/>
              <a:t>)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Lin-Log</a:t>
            </a:r>
          </a:p>
          <a:p>
            <a:r>
              <a:rPr lang="pt-BR" sz="2000" b="1" dirty="0"/>
              <a:t>Monod</a:t>
            </a:r>
          </a:p>
          <a:p>
            <a:endParaRPr lang="pt-BR" sz="2000" b="1" dirty="0"/>
          </a:p>
          <a:p>
            <a:r>
              <a:rPr lang="pt-BR" sz="2000" b="1" dirty="0"/>
              <a:t>Dinâmica dos sistemas bioquímicos </a:t>
            </a:r>
          </a:p>
          <a:p>
            <a:r>
              <a:rPr lang="pt-BR" sz="2000" b="1" dirty="0"/>
              <a:t>Previsões</a:t>
            </a:r>
          </a:p>
          <a:p>
            <a:r>
              <a:rPr lang="pt-BR" sz="2000" b="1" dirty="0"/>
              <a:t>Condições realistas</a:t>
            </a:r>
          </a:p>
          <a:p>
            <a:endParaRPr lang="pt-BR" sz="2000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2FC6D9E-65F2-4AFB-B077-5660DB017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849" y="65576"/>
            <a:ext cx="602841" cy="105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0E10CF3-E108-4678-9A5C-877611A8E0A1}"/>
              </a:ext>
            </a:extLst>
          </p:cNvPr>
          <p:cNvSpPr txBox="1"/>
          <p:nvPr/>
        </p:nvSpPr>
        <p:spPr>
          <a:xfrm>
            <a:off x="7189156" y="6233987"/>
            <a:ext cx="232025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dirty="0"/>
              <a:t>Artigo usado no estudo de caso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86EA10A-3989-4E74-A7FB-A91A3B635735}"/>
              </a:ext>
            </a:extLst>
          </p:cNvPr>
          <p:cNvSpPr txBox="1"/>
          <p:nvPr/>
        </p:nvSpPr>
        <p:spPr>
          <a:xfrm>
            <a:off x="5461819" y="1635331"/>
            <a:ext cx="47655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Modelo matemático ideal</a:t>
            </a:r>
          </a:p>
          <a:p>
            <a:endParaRPr lang="pt-BR" sz="2000" b="1" dirty="0"/>
          </a:p>
          <a:p>
            <a:pPr>
              <a:buFontTx/>
              <a:buChar char="-"/>
            </a:pPr>
            <a:r>
              <a:rPr lang="pt-BR" sz="2000" dirty="0"/>
              <a:t> Válido </a:t>
            </a:r>
          </a:p>
          <a:p>
            <a:pPr>
              <a:buFontTx/>
              <a:buChar char="-"/>
            </a:pPr>
            <a:r>
              <a:rPr lang="pt-BR" sz="2000" dirty="0"/>
              <a:t> Preditivo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1668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FF82A-0E57-4055-BE6E-4A06BF457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pt-BR" dirty="0"/>
              <a:t>Metodologia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E273B6F-4622-4601-8DE9-3193D41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849" y="65576"/>
            <a:ext cx="602841" cy="105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8A09363-BC61-461E-8E46-EC2A07D988F6}"/>
              </a:ext>
            </a:extLst>
          </p:cNvPr>
          <p:cNvSpPr txBox="1"/>
          <p:nvPr/>
        </p:nvSpPr>
        <p:spPr>
          <a:xfrm>
            <a:off x="6981434" y="3847652"/>
            <a:ext cx="3699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Representação genérica da dinâmica bioquímica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5F5A1AC-EE16-477F-BE3B-2F7216BE5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7728"/>
            <a:ext cx="65" cy="24174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CE3C10E-6CA4-4999-A65F-ADE8D5A3B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41" y="3031243"/>
            <a:ext cx="3456459" cy="812267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86041B63-3778-4BF3-95F6-B7BD42ECD73A}"/>
              </a:ext>
            </a:extLst>
          </p:cNvPr>
          <p:cNvSpPr txBox="1"/>
          <p:nvPr/>
        </p:nvSpPr>
        <p:spPr>
          <a:xfrm flipH="1">
            <a:off x="289146" y="1190607"/>
            <a:ext cx="53731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Saccharomyces </a:t>
            </a:r>
            <a:r>
              <a:rPr lang="pt-BR" sz="2000" b="1" dirty="0" err="1"/>
              <a:t>diastaticus</a:t>
            </a:r>
            <a:r>
              <a:rPr lang="pt-BR" sz="2000" b="1" dirty="0"/>
              <a:t> LORRE 316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Volume do reator de 5 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Temperatura de 35ºC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Análise computacional e observação gráfica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E9D75BA0-D156-408C-B8F4-C94926866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294" y="4325526"/>
            <a:ext cx="3125148" cy="840775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1B0CF4D-CC43-4198-9B9F-B46242133646}"/>
              </a:ext>
            </a:extLst>
          </p:cNvPr>
          <p:cNvSpPr txBox="1"/>
          <p:nvPr/>
        </p:nvSpPr>
        <p:spPr>
          <a:xfrm>
            <a:off x="5904763" y="5222604"/>
            <a:ext cx="2090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Taxa V</a:t>
            </a:r>
            <a:r>
              <a:rPr lang="pt-BR" sz="1400" baseline="-25000" dirty="0"/>
              <a:t>i </a:t>
            </a:r>
            <a:r>
              <a:rPr lang="pt-BR" sz="1400" dirty="0"/>
              <a:t> no modelo Log-Lin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6FDBE57-6E89-4ACA-85CE-455EB691317A}"/>
              </a:ext>
            </a:extLst>
          </p:cNvPr>
          <p:cNvSpPr txBox="1"/>
          <p:nvPr/>
        </p:nvSpPr>
        <p:spPr>
          <a:xfrm>
            <a:off x="9317319" y="5212856"/>
            <a:ext cx="2090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Taxa V</a:t>
            </a:r>
            <a:r>
              <a:rPr lang="pt-BR" sz="1400" baseline="-25000" dirty="0"/>
              <a:t>i </a:t>
            </a:r>
            <a:r>
              <a:rPr lang="pt-BR" sz="1400" dirty="0"/>
              <a:t> no modelo Lin-Log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95F546CE-B0B6-4FD1-9D74-0C3A20E0F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7238" y="4325526"/>
            <a:ext cx="2791056" cy="88733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8450F257-D0F0-4042-82B9-434F158FFC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389" y="5694872"/>
            <a:ext cx="4373767" cy="736476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3EADA675-BA31-4B1D-974A-E9A1A910B6D7}"/>
              </a:ext>
            </a:extLst>
          </p:cNvPr>
          <p:cNvSpPr txBox="1"/>
          <p:nvPr/>
        </p:nvSpPr>
        <p:spPr>
          <a:xfrm>
            <a:off x="7387408" y="6402979"/>
            <a:ext cx="30132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Equacionamento genérico do S-System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6BC720A0-82C2-4057-B23A-CA394644FC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852" y="3686179"/>
            <a:ext cx="4547462" cy="2569111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2095373F-8BD1-4AB1-AB2F-312062E08E82}"/>
              </a:ext>
            </a:extLst>
          </p:cNvPr>
          <p:cNvSpPr txBox="1"/>
          <p:nvPr/>
        </p:nvSpPr>
        <p:spPr>
          <a:xfrm>
            <a:off x="1326844" y="6255290"/>
            <a:ext cx="2982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Equacionamento pelo modelo Lin-Log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71B68E2-CFD3-42E0-B15A-ED22CEA2BE0A}"/>
              </a:ext>
            </a:extLst>
          </p:cNvPr>
          <p:cNvSpPr txBox="1"/>
          <p:nvPr/>
        </p:nvSpPr>
        <p:spPr>
          <a:xfrm>
            <a:off x="6816254" y="950411"/>
            <a:ext cx="36993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1" dirty="0"/>
              <a:t>Reator Batelada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1" dirty="0"/>
              <a:t>Concentrações iniciais</a:t>
            </a:r>
          </a:p>
          <a:p>
            <a:pPr marL="285750" indent="-285750">
              <a:buFontTx/>
              <a:buChar char="-"/>
            </a:pPr>
            <a:r>
              <a:rPr lang="pt-BR" sz="1800" dirty="0"/>
              <a:t>50g/L</a:t>
            </a:r>
          </a:p>
          <a:p>
            <a:pPr marL="285750" indent="-285750">
              <a:buFontTx/>
              <a:buChar char="-"/>
            </a:pPr>
            <a:r>
              <a:rPr lang="pt-BR" sz="1800" dirty="0"/>
              <a:t>150g/L</a:t>
            </a:r>
          </a:p>
          <a:p>
            <a:pPr marL="285750" indent="-285750">
              <a:buFontTx/>
              <a:buChar char="-"/>
            </a:pPr>
            <a:r>
              <a:rPr lang="pt-BR" sz="1800" dirty="0"/>
              <a:t>200g/L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6784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F36FB65B-71AD-4F8F-A49B-3219F575F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09" y="449469"/>
            <a:ext cx="5057863" cy="284824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2253D7A-89D5-41F8-A633-B3218FA0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3200"/>
            <a:ext cx="10515600" cy="1325563"/>
          </a:xfrm>
        </p:spPr>
        <p:txBody>
          <a:bodyPr/>
          <a:lstStyle/>
          <a:p>
            <a:r>
              <a:rPr lang="pt-BR" dirty="0"/>
              <a:t>Resultados e discussões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CA3810D-F527-478E-9462-90D8E4FD3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849" y="65576"/>
            <a:ext cx="602841" cy="105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7E4128D-0DC4-4280-892D-F46898611A0F}"/>
              </a:ext>
            </a:extLst>
          </p:cNvPr>
          <p:cNvSpPr txBox="1"/>
          <p:nvPr/>
        </p:nvSpPr>
        <p:spPr>
          <a:xfrm>
            <a:off x="72909" y="1165642"/>
            <a:ext cx="6096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Estimação de parâmetros</a:t>
            </a:r>
          </a:p>
          <a:p>
            <a:pPr marL="342900" indent="-342900">
              <a:buFontTx/>
              <a:buChar char="-"/>
            </a:pPr>
            <a:r>
              <a:rPr lang="pt-BR" sz="2000" dirty="0"/>
              <a:t>Valores obtidos levemente diferentes do reportado no artigo</a:t>
            </a:r>
          </a:p>
          <a:p>
            <a:pPr marL="342900" indent="-342900">
              <a:buFontTx/>
              <a:buChar char="-"/>
            </a:pPr>
            <a:r>
              <a:rPr lang="pt-BR" sz="2000" dirty="0"/>
              <a:t>Comportamento similar</a:t>
            </a:r>
          </a:p>
          <a:p>
            <a:pPr marL="342900" indent="-342900">
              <a:buFontTx/>
              <a:buChar char="-"/>
            </a:pP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Sensibilidade do método</a:t>
            </a:r>
          </a:p>
          <a:p>
            <a:pPr marL="342900" indent="-342900">
              <a:buFontTx/>
              <a:buChar char="-"/>
            </a:pPr>
            <a:r>
              <a:rPr lang="pt-BR" sz="2000" dirty="0"/>
              <a:t>Alteração dos parâmetros iniciais afeta o sistema</a:t>
            </a:r>
          </a:p>
          <a:p>
            <a:endParaRPr lang="pt-BR" sz="2000" dirty="0"/>
          </a:p>
          <a:p>
            <a:pPr marL="342900" indent="-342900">
              <a:buFontTx/>
              <a:buChar char="-"/>
            </a:pPr>
            <a:endParaRPr lang="pt-BR" sz="2000" b="1" dirty="0"/>
          </a:p>
          <a:p>
            <a:pPr marL="342900" indent="-342900">
              <a:buFontTx/>
              <a:buChar char="-"/>
            </a:pPr>
            <a:endParaRPr lang="pt-BR" sz="20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89D43D-9354-4182-AEE8-1E0C26B29B70}"/>
              </a:ext>
            </a:extLst>
          </p:cNvPr>
          <p:cNvSpPr txBox="1"/>
          <p:nvPr/>
        </p:nvSpPr>
        <p:spPr>
          <a:xfrm>
            <a:off x="6680413" y="3297709"/>
            <a:ext cx="43673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Concentrações estimadas para glicose, etanol, frutose, biomassa e glicerol para concentração inicial de 50g/L. Os pontos representam o modelo Lin-Log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264AACD-0041-49C5-9858-46E2B78DD297}"/>
              </a:ext>
            </a:extLst>
          </p:cNvPr>
          <p:cNvSpPr txBox="1"/>
          <p:nvPr/>
        </p:nvSpPr>
        <p:spPr>
          <a:xfrm>
            <a:off x="6680413" y="6287383"/>
            <a:ext cx="4367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 feita em Python usando o modelo Lin-Log para concentração inicial de açúcares igual a 50g/L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C4ECBDF-C5DA-4C3B-A830-9EB21B4367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99" y="4013882"/>
            <a:ext cx="6236792" cy="212727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282C35A-7B7A-4D6A-8550-A2655DC7D4E9}"/>
              </a:ext>
            </a:extLst>
          </p:cNvPr>
          <p:cNvSpPr txBox="1"/>
          <p:nvPr/>
        </p:nvSpPr>
        <p:spPr>
          <a:xfrm>
            <a:off x="1936985" y="5979606"/>
            <a:ext cx="2988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Parâmetros adotados nos modelos</a:t>
            </a:r>
          </a:p>
        </p:txBody>
      </p:sp>
    </p:spTree>
    <p:extLst>
      <p:ext uri="{BB962C8B-B14F-4D97-AF65-F5344CB8AC3E}">
        <p14:creationId xmlns:p14="http://schemas.microsoft.com/office/powerpoint/2010/main" val="1645277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53D7A-89D5-41F8-A633-B3218FA0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3704"/>
            <a:ext cx="10515600" cy="1325563"/>
          </a:xfrm>
        </p:spPr>
        <p:txBody>
          <a:bodyPr/>
          <a:lstStyle/>
          <a:p>
            <a:r>
              <a:rPr lang="pt-BR" dirty="0"/>
              <a:t>Resultados e discussões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CA3810D-F527-478E-9462-90D8E4FD3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849" y="65576"/>
            <a:ext cx="602841" cy="105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89D43D-9354-4182-AEE8-1E0C26B29B70}"/>
              </a:ext>
            </a:extLst>
          </p:cNvPr>
          <p:cNvSpPr txBox="1"/>
          <p:nvPr/>
        </p:nvSpPr>
        <p:spPr>
          <a:xfrm>
            <a:off x="506983" y="3789839"/>
            <a:ext cx="43673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Concentrações estimadas para glicose, etanol, frutose, biomassa e glicerol para concentração inicial de  150g/L. Os pontos representam o modelo Lin-Log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8EBC37A-545F-4ACC-9192-ED062D959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08" y="1026382"/>
            <a:ext cx="4948713" cy="266747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1B44852-6AAA-4BEA-8768-3D9646B34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018" y="914292"/>
            <a:ext cx="4702778" cy="271129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A77F1E-5F28-4ACD-BC7B-AD7924FBD3ED}"/>
              </a:ext>
            </a:extLst>
          </p:cNvPr>
          <p:cNvSpPr txBox="1"/>
          <p:nvPr/>
        </p:nvSpPr>
        <p:spPr>
          <a:xfrm>
            <a:off x="6731724" y="3731594"/>
            <a:ext cx="43673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Concentrações estimadas para glicose, etanol, frutose, biomassa e glicerol para concentração inicial de  200g/L. Os pontos representam o modelo Lin-Log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6F51C5F-9F8C-4DDC-A5C6-AA70AB5C8B52}"/>
              </a:ext>
            </a:extLst>
          </p:cNvPr>
          <p:cNvSpPr txBox="1"/>
          <p:nvPr/>
        </p:nvSpPr>
        <p:spPr>
          <a:xfrm>
            <a:off x="6731724" y="6235860"/>
            <a:ext cx="4367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 feita em Python usando o modelo Lin-Log para concentração inicial de açúcares igual a 200g/L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E27E4D9-2D62-4D93-8410-CB631B325994}"/>
              </a:ext>
            </a:extLst>
          </p:cNvPr>
          <p:cNvSpPr txBox="1"/>
          <p:nvPr/>
        </p:nvSpPr>
        <p:spPr>
          <a:xfrm>
            <a:off x="619107" y="6235860"/>
            <a:ext cx="4367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 feita em Python usando o modelo Lin-Log para concentração inicial de açúcares igual a 150g/L</a:t>
            </a:r>
          </a:p>
        </p:txBody>
      </p:sp>
    </p:spTree>
    <p:extLst>
      <p:ext uri="{BB962C8B-B14F-4D97-AF65-F5344CB8AC3E}">
        <p14:creationId xmlns:p14="http://schemas.microsoft.com/office/powerpoint/2010/main" val="3066335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53D7A-89D5-41F8-A633-B3218FA0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3704"/>
            <a:ext cx="10515600" cy="1325563"/>
          </a:xfrm>
        </p:spPr>
        <p:txBody>
          <a:bodyPr/>
          <a:lstStyle/>
          <a:p>
            <a:r>
              <a:rPr lang="pt-BR" dirty="0"/>
              <a:t>Resultados e discussões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CA3810D-F527-478E-9462-90D8E4FD3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849" y="65576"/>
            <a:ext cx="602841" cy="105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6F51C5F-9F8C-4DDC-A5C6-AA70AB5C8B52}"/>
              </a:ext>
            </a:extLst>
          </p:cNvPr>
          <p:cNvSpPr txBox="1"/>
          <p:nvPr/>
        </p:nvSpPr>
        <p:spPr>
          <a:xfrm>
            <a:off x="6999736" y="6119336"/>
            <a:ext cx="43673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 feita em Python usando o modelo Lin-Log para concentração inicial de açúcares igual a 150g/L. Parâmetros originais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E27E4D9-2D62-4D93-8410-CB631B325994}"/>
              </a:ext>
            </a:extLst>
          </p:cNvPr>
          <p:cNvSpPr txBox="1"/>
          <p:nvPr/>
        </p:nvSpPr>
        <p:spPr>
          <a:xfrm>
            <a:off x="928823" y="6119336"/>
            <a:ext cx="43673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 feita em Python usando o modelo Lin-Log para concentração inicial de açúcares igual a 50g/L. Parâmetros originais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FC693CF-0EC4-4701-A4EB-EF894A467C28}"/>
              </a:ext>
            </a:extLst>
          </p:cNvPr>
          <p:cNvSpPr txBox="1"/>
          <p:nvPr/>
        </p:nvSpPr>
        <p:spPr>
          <a:xfrm>
            <a:off x="474877" y="3324527"/>
            <a:ext cx="48213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 feita em Python usando o modelo Lin-Log para concentração inicial de açúcares igual a 50g/L</a:t>
            </a:r>
          </a:p>
          <a:p>
            <a:pPr algn="ctr"/>
            <a:r>
              <a:rPr lang="pt-BR" sz="1400" dirty="0"/>
              <a:t>Mudança no parâmetro a para o valor de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177BD54-C828-4E0C-AFD1-A61D117564EC}"/>
              </a:ext>
            </a:extLst>
          </p:cNvPr>
          <p:cNvSpPr txBox="1"/>
          <p:nvPr/>
        </p:nvSpPr>
        <p:spPr>
          <a:xfrm>
            <a:off x="6772764" y="3324527"/>
            <a:ext cx="48213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 feita em Python usando o modelo Lin-Log para concentração inicial de açúcares igual a 150g/L</a:t>
            </a:r>
          </a:p>
          <a:p>
            <a:pPr algn="ctr"/>
            <a:r>
              <a:rPr lang="pt-BR" sz="1400" dirty="0"/>
              <a:t>Mudança no parâmetro a para o valor de 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8BCE7B38-D73A-438A-A68D-C6D1FB376412}"/>
              </a:ext>
            </a:extLst>
          </p:cNvPr>
          <p:cNvSpPr txBox="1">
            <a:spLocks/>
          </p:cNvSpPr>
          <p:nvPr/>
        </p:nvSpPr>
        <p:spPr>
          <a:xfrm>
            <a:off x="216310" y="4595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/>
              <a:t>Sensibilidade do modelo: Mudança de parâmetros</a:t>
            </a:r>
          </a:p>
        </p:txBody>
      </p:sp>
    </p:spTree>
    <p:extLst>
      <p:ext uri="{BB962C8B-B14F-4D97-AF65-F5344CB8AC3E}">
        <p14:creationId xmlns:p14="http://schemas.microsoft.com/office/powerpoint/2010/main" val="27381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B128D-5C14-4832-86F7-14E5177C8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pt-BR" dirty="0"/>
              <a:t>Conclusões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3DD5E7-F403-44B7-B8C7-502E7051B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34586"/>
            <a:ext cx="11811000" cy="4492472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/>
              <a:t>Técnica estável e reconhecida.</a:t>
            </a:r>
          </a:p>
          <a:p>
            <a:pPr>
              <a:buFontTx/>
              <a:buChar char="-"/>
            </a:pPr>
            <a:r>
              <a:rPr lang="pt-BR" dirty="0"/>
              <a:t>Modelo Lin-Log replicável</a:t>
            </a:r>
          </a:p>
          <a:p>
            <a:pPr>
              <a:buFontTx/>
              <a:buChar char="-"/>
            </a:pPr>
            <a:r>
              <a:rPr lang="pt-BR" dirty="0"/>
              <a:t>Parâmetros informados reproduzem gráficos no Python com similaridade aos modelos do artigo.</a:t>
            </a:r>
          </a:p>
          <a:p>
            <a:pPr>
              <a:buFontTx/>
              <a:buChar char="-"/>
            </a:pPr>
            <a:r>
              <a:rPr lang="pt-BR" dirty="0"/>
              <a:t>Valores obtido em Python razoavelmente discrepantes da literatura</a:t>
            </a:r>
          </a:p>
          <a:p>
            <a:pPr>
              <a:buFontTx/>
              <a:buChar char="-"/>
            </a:pPr>
            <a:endParaRPr lang="pt-BR" dirty="0"/>
          </a:p>
          <a:p>
            <a:r>
              <a:rPr lang="pt-BR" b="1" dirty="0"/>
              <a:t>Artigo apresenta aplicação satisfatória dos modelos S-system, Lin-log e Monod.</a:t>
            </a:r>
          </a:p>
          <a:p>
            <a:endParaRPr lang="pt-BR" b="1" dirty="0"/>
          </a:p>
          <a:p>
            <a:r>
              <a:rPr lang="pt-BR" b="1" dirty="0"/>
              <a:t>O método apresenta elevada sensibilidade:</a:t>
            </a:r>
          </a:p>
          <a:p>
            <a:pPr>
              <a:buFontTx/>
              <a:buChar char="-"/>
            </a:pPr>
            <a:r>
              <a:rPr lang="pt-BR" dirty="0"/>
              <a:t>Mudança de parâmetros do modelo afetam consideravelmente o resultado</a:t>
            </a:r>
          </a:p>
          <a:p>
            <a:pPr marL="0" indent="0">
              <a:buNone/>
            </a:pPr>
            <a:endParaRPr lang="pt-BR" b="1" dirty="0"/>
          </a:p>
          <a:p>
            <a:r>
              <a:rPr lang="pt-BR" b="1" dirty="0"/>
              <a:t>Modelo S-system mais realístico que o adotado: Lin-log 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EBC21DF-CC35-4B32-AFC0-3BFA51EFD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849" y="65576"/>
            <a:ext cx="602841" cy="105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89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A9E9F-489F-4C6C-A154-0BD156FA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259" y="3293306"/>
            <a:ext cx="5117691" cy="1325563"/>
          </a:xfrm>
        </p:spPr>
        <p:txBody>
          <a:bodyPr>
            <a:normAutofit/>
          </a:bodyPr>
          <a:lstStyle/>
          <a:p>
            <a:r>
              <a:rPr lang="pt-BR" sz="6600" dirty="0"/>
              <a:t>Obrigado!</a:t>
            </a:r>
          </a:p>
        </p:txBody>
      </p:sp>
      <p:pic>
        <p:nvPicPr>
          <p:cNvPr id="14338" name="Picture 2" descr="Studio Ghibli: por onde começar?">
            <a:extLst>
              <a:ext uri="{FF2B5EF4-FFF2-40B4-BE49-F238E27FC236}">
                <a16:creationId xmlns:a16="http://schemas.microsoft.com/office/drawing/2014/main" id="{D202F12F-C318-4F3F-B7A7-F846864BBA8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936" y="3956088"/>
            <a:ext cx="2568064" cy="290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6553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80F113-2902-4E2C-8128-32C42AA8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57119C-5CED-42C0-ABC2-A2BE650AF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alibri corpos"/>
                <a:cs typeface="Times New Roman" panose="02020603050405020304" pitchFamily="18" charset="0"/>
              </a:rPr>
              <a:t>(</a:t>
            </a:r>
            <a:r>
              <a:rPr lang="pt-BR" dirty="0"/>
              <a:t>Wen-</a:t>
            </a:r>
            <a:r>
              <a:rPr lang="pt-BR" dirty="0" err="1"/>
              <a:t>Hung</a:t>
            </a:r>
            <a:r>
              <a:rPr lang="pt-BR" dirty="0"/>
              <a:t> Huang, Feng-</a:t>
            </a:r>
            <a:r>
              <a:rPr lang="pt-BR" dirty="0" err="1"/>
              <a:t>Sheng</a:t>
            </a:r>
            <a:r>
              <a:rPr lang="pt-BR" dirty="0"/>
              <a:t> Wang,</a:t>
            </a:r>
            <a:r>
              <a:rPr lang="en-US" dirty="0">
                <a:latin typeface="Calibri corpos"/>
                <a:cs typeface="Times New Roman" panose="02020603050405020304" pitchFamily="18" charset="0"/>
              </a:rPr>
              <a:t> </a:t>
            </a:r>
            <a:r>
              <a:rPr lang="en-US" b="1" dirty="0"/>
              <a:t>Kinetic modeling of batch fermentation for mixed-sugar to ethanol production</a:t>
            </a:r>
            <a:r>
              <a:rPr lang="en-US" dirty="0">
                <a:latin typeface="Calibri corpos"/>
                <a:cs typeface="Times New Roman" panose="02020603050405020304" pitchFamily="18" charset="0"/>
              </a:rPr>
              <a:t>, </a:t>
            </a:r>
            <a:r>
              <a:rPr lang="en-US" dirty="0"/>
              <a:t>Journal of the Taiwan Institute of Chemical Engineers</a:t>
            </a:r>
            <a:r>
              <a:rPr lang="en-US" dirty="0">
                <a:latin typeface="Calibri corpos"/>
                <a:cs typeface="Times New Roman" panose="02020603050405020304" pitchFamily="18" charset="0"/>
              </a:rPr>
              <a:t>,2010)</a:t>
            </a:r>
            <a:endParaRPr lang="pt-BR" dirty="0">
              <a:latin typeface="Calibri corpos"/>
              <a:cs typeface="Times New Roman" panose="02020603050405020304" pitchFamily="18" charset="0"/>
            </a:endParaRPr>
          </a:p>
          <a:p>
            <a:endParaRPr lang="pt-BR" sz="2800" dirty="0">
              <a:effectLst/>
              <a:latin typeface="Calibri corpo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5754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4852</TotalTime>
  <Words>475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corpos</vt:lpstr>
      <vt:lpstr>Calibri Light</vt:lpstr>
      <vt:lpstr>Tema do Office</vt:lpstr>
      <vt:lpstr>Kinetic modeling of batch fermentation for mixed-sugar to ethanol production</vt:lpstr>
      <vt:lpstr>Introdução</vt:lpstr>
      <vt:lpstr>Metodologia</vt:lpstr>
      <vt:lpstr>Resultados e discussões</vt:lpstr>
      <vt:lpstr>Resultados e discussões</vt:lpstr>
      <vt:lpstr>Resultados e discussões</vt:lpstr>
      <vt:lpstr>Conclusões</vt:lpstr>
      <vt:lpstr>Obrigado!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Kinetic modeling of batch fermentation for mixed-sugar to ethanol production</dc:title>
  <dc:creator>David Zanon</dc:creator>
  <cp:lastModifiedBy>David Zanon</cp:lastModifiedBy>
  <cp:revision>12</cp:revision>
  <dcterms:created xsi:type="dcterms:W3CDTF">2021-11-25T17:59:58Z</dcterms:created>
  <dcterms:modified xsi:type="dcterms:W3CDTF">2021-11-30T22:46:40Z</dcterms:modified>
</cp:coreProperties>
</file>